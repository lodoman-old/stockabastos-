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6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5D6A7"/>
                </a:solidFill>
                <a:latin typeface="Calibri"/>
              </a:defRPr>
            </a:pPr>
            <a:r>
              <a:rPr lang="es-MX" noProof="0" dirty="0"/>
              <a:t>Sistema de Gestión para Mercados de Abasto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 err="1"/>
              <a:t>StockAbastos</a:t>
            </a:r>
            <a:endParaRPr lang="es-MX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EBD2"/>
                </a:solidFill>
                <a:latin typeface="Calibri"/>
              </a:defRPr>
            </a:pPr>
            <a:r>
              <a:rPr lang="es-MX" noProof="0" dirty="0"/>
              <a:t>Control de inventario, ventas, compras y logística</a:t>
            </a:r>
            <a:br>
              <a:rPr lang="es-MX" noProof="0" dirty="0"/>
            </a:br>
            <a:r>
              <a:rPr lang="es-MX" noProof="0" dirty="0"/>
              <a:t>para centrales de abasto y distribución de perecederos.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2011680" cy="365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/>
              <a:t>🌐  Web + Móvil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468880"/>
            <a:ext cx="2011680" cy="365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310896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/>
              <a:t>📱  App Android nativa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468880"/>
            <a:ext cx="2011680" cy="365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39496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/>
              <a:t>☁️  </a:t>
            </a:r>
            <a:r>
              <a:rPr lang="es-MX" noProof="0" dirty="0" err="1"/>
              <a:t>On</a:t>
            </a:r>
            <a:r>
              <a:rPr lang="es-MX" noProof="0" dirty="0"/>
              <a:t>-premise / Nube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468880"/>
            <a:ext cx="2011680" cy="365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68096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/>
              <a:t>⚡  Tiempo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660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¿Por qué </a:t>
            </a:r>
            <a:r>
              <a:rPr lang="es-MX" noProof="0" dirty="0" err="1"/>
              <a:t>StockAbastos</a:t>
            </a:r>
            <a:r>
              <a:rPr lang="es-MX" noProof="0" dirty="0"/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360420"/>
            <a:ext cx="10424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Los mercados de abasto manejan productos perecederos por lotes con pesos y precios variables, múltiples ubicaciones, crédito con clientes, y requieren trazabilidad sanitaria. </a:t>
            </a:r>
            <a:r>
              <a:rPr lang="es-MX" noProof="0" dirty="0" err="1"/>
              <a:t>StockAbastos</a:t>
            </a:r>
            <a:r>
              <a:rPr lang="es-MX" noProof="0" dirty="0"/>
              <a:t> es el único sistema diseñado específicamente para esta operación.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8609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📋  Inventario por lotes con caducidad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40"/>
            <a:ext cx="54864" cy="228600"/>
          </a:xfrm>
          <a:prstGeom prst="rect">
            <a:avLst/>
          </a:prstGeom>
          <a:solidFill>
            <a:srgbClr val="1A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457200" y="4427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🧾  POS por kg o caja con precios del día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34840"/>
            <a:ext cx="54864" cy="228600"/>
          </a:xfrm>
          <a:prstGeom prst="rect">
            <a:avLst/>
          </a:prstGeom>
          <a:solidFill>
            <a:srgbClr val="1A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📱  App Android nativa con escaneo QR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92040"/>
            <a:ext cx="54864" cy="228600"/>
          </a:xfrm>
          <a:prstGeom prst="rect">
            <a:avLst/>
          </a:prstGeom>
          <a:solidFill>
            <a:srgbClr val="1A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📊  Reportes, cortes de caja y más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49240"/>
            <a:ext cx="54864" cy="228600"/>
          </a:xfrm>
          <a:prstGeom prst="rect">
            <a:avLst/>
          </a:prstGeom>
          <a:solidFill>
            <a:srgbClr val="1A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89B616F3-CEE6-BEAC-A49E-8C3588690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503" y="441824"/>
            <a:ext cx="2254366" cy="17780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7289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8A3A"/>
                </a:solidFill>
                <a:latin typeface="Calibri"/>
              </a:defRPr>
            </a:pPr>
            <a:r>
              <a:rPr lang="es-MX" noProof="0" dirty="0"/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Los mercados de abasto enfrentan desafíos que el software genérico no resuelve.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86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Inventario por lote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Los productos perecederos se manejan por lotes con fechas de caducidad, no como stock genérico. Cada lote puede tener peso y precio diferente.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486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Ventas mixtas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Un mismo producto se vende por kilo o por caja. El peso por caja varía por proveedor y lote. Se requiere flexibilidad total en el POS.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5486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Múltiples ubicaciones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Bodegas, cámaras frías y puntos de venta requieren traspasos, recepción con merma y visibilidad centralizada del inventario.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83280"/>
            <a:ext cx="5486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Control de mermas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Las pérdidas por caducidad, producto dañado y devoluciones impactan directamente la rentabilidad. Sin trazabilidad, es imposible controlarlas.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 err="1"/>
              <a:t>StockAbastos</a:t>
            </a:r>
            <a:r>
              <a:rPr lang="es-MX" noProof="0" dirty="0"/>
              <a:t> ©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7289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8A3A"/>
                </a:solidFill>
                <a:latin typeface="Calibri"/>
              </a:defRPr>
            </a:pPr>
            <a:r>
              <a:rPr lang="es-MX" noProof="0" dirty="0"/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 err="1"/>
              <a:t>StockAbastos</a:t>
            </a:r>
            <a:r>
              <a:rPr lang="es-MX" noProof="0" dirty="0"/>
              <a:t>: sistema integral diseñado desde cero para la operación diaria de mercados de abasto.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4747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 err="1"/>
              <a:t>Dashboard</a:t>
            </a:r>
            <a:r>
              <a:rPr lang="es-MX" noProof="0" dirty="0"/>
              <a:t> en tiempo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Ventas del día, stock por bodega, productos próximos a vencer, todo en una vista.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011680"/>
            <a:ext cx="34747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29768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Punto de venta (POS)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Ventas rápidas por kg o caja con precios del día, crédito, ticket térmico y préstamo de cajas.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011680"/>
            <a:ext cx="34747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795528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 err="1"/>
              <a:t>Multi-bodega</a:t>
            </a:r>
            <a:r>
              <a:rPr lang="es-MX" noProof="0" dirty="0"/>
              <a:t> y traspasos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Gestión de ubicaciones físicas con traspasos, recepción de mercancía y control de merma.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34747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App móvil nativa Android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Escaneo QR, ventas desde el piso de venta, operación offline y conectividad con el servidor.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657600"/>
            <a:ext cx="34747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4297680" y="3794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🏷️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Etiquetas y códigos QR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389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Impresión de etiquetas ZPL para Zebra y códigos QR para seguimiento de lotes en todo el ciclo.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657600"/>
            <a:ext cx="34747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7955280" y="3794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Crédito y préstamo de cajas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389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Clientes, ventas a crédito con vencimiento, saldos pendientes y control de cajas prestadas/devueltas.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 err="1"/>
              <a:t>StockAbastos</a:t>
            </a:r>
            <a:r>
              <a:rPr lang="es-MX" noProof="0" dirty="0"/>
              <a:t> ©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7289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5D6A7"/>
                </a:solidFill>
                <a:latin typeface="Calibri"/>
              </a:defRPr>
            </a:pPr>
            <a:r>
              <a:rPr lang="es-MX" noProof="0" dirty="0"/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Funcionalidades clave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743200" cy="365760"/>
          </a:xfrm>
          <a:prstGeom prst="roundRect">
            <a:avLst/>
          </a:prstGeom>
          <a:solidFill>
            <a:srgbClr val="1A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📦 Inventario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Productos por SKU con precios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12848"/>
            <a:ext cx="2743200" cy="36576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502920" y="2258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Lotes con fechas de caducidad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96896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02920" y="26426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Múltiples bodegas y ubicaciones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80944"/>
            <a:ext cx="2743200" cy="36576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502920" y="30266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Ajustes de inventario y mermas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64992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02920" y="34107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Alertas automáticas de stock bajo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28800"/>
            <a:ext cx="27432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9" name="Rounded Rectangle 18"/>
          <p:cNvSpPr/>
          <p:nvPr/>
        </p:nvSpPr>
        <p:spPr>
          <a:xfrm>
            <a:off x="3291840" y="1371600"/>
            <a:ext cx="2743200" cy="365760"/>
          </a:xfrm>
          <a:prstGeom prst="roundRect">
            <a:avLst/>
          </a:prstGeom>
          <a:solidFill>
            <a:srgbClr val="1A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338328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💰 Ventas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82880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3429000" y="1874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POS rápido por kg o caja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212848"/>
            <a:ext cx="2743200" cy="36576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3429000" y="2258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Precios del día configurables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596896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3429000" y="26426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Ventas a crédito con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2980944"/>
            <a:ext cx="2743200" cy="36576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3429000" y="30266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Ticket térmico 58 / 80 mm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3364992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3429000" y="34107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Préstamo y devolución de cajas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1828800"/>
            <a:ext cx="27432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2" name="Rounded Rectangle 31"/>
          <p:cNvSpPr/>
          <p:nvPr/>
        </p:nvSpPr>
        <p:spPr>
          <a:xfrm>
            <a:off x="6217920" y="1371600"/>
            <a:ext cx="2743200" cy="365760"/>
          </a:xfrm>
          <a:prstGeom prst="roundRect">
            <a:avLst/>
          </a:prstGeom>
          <a:solidFill>
            <a:srgbClr val="1A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630936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📋 Operaciones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6355080" y="1874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Compras y órdenes de recepción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212848"/>
            <a:ext cx="2743200" cy="36576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6355080" y="2258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Traspasos entre bodegas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596896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6355080" y="26426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Recepción con control de merma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980944"/>
            <a:ext cx="2743200" cy="36576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6355080" y="30266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Escaneo QR desde app móvil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364992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6355080" y="34107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Proveedores y transportistas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1828800"/>
            <a:ext cx="27432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5" name="Rounded Rectangle 44"/>
          <p:cNvSpPr/>
          <p:nvPr/>
        </p:nvSpPr>
        <p:spPr>
          <a:xfrm>
            <a:off x="9144000" y="1371600"/>
            <a:ext cx="2743200" cy="365760"/>
          </a:xfrm>
          <a:prstGeom prst="roundRect">
            <a:avLst/>
          </a:prstGeom>
          <a:solidFill>
            <a:srgbClr val="1A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6" name="TextBox 45"/>
          <p:cNvSpPr txBox="1"/>
          <p:nvPr/>
        </p:nvSpPr>
        <p:spPr>
          <a:xfrm>
            <a:off x="923544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📈 Control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182880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9281160" y="1874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Reportes gráficos de ventas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2212848"/>
            <a:ext cx="2743200" cy="36576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0" name="TextBox 49"/>
          <p:cNvSpPr txBox="1"/>
          <p:nvPr/>
        </p:nvSpPr>
        <p:spPr>
          <a:xfrm>
            <a:off x="9281160" y="2258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Corte de caja diario automático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596896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9281160" y="26426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Historial de precios por producto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2980944"/>
            <a:ext cx="2743200" cy="36576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4" name="TextBox 53"/>
          <p:cNvSpPr txBox="1"/>
          <p:nvPr/>
        </p:nvSpPr>
        <p:spPr>
          <a:xfrm>
            <a:off x="9281160" y="30266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Gastos, ganancias y rentabilidad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3364992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6" name="TextBox 55"/>
          <p:cNvSpPr txBox="1"/>
          <p:nvPr/>
        </p:nvSpPr>
        <p:spPr>
          <a:xfrm>
            <a:off x="9281160" y="34107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▸  Roles y permisos por usuario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0" y="1828800"/>
            <a:ext cx="27432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8" name="TextBox 5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 err="1"/>
              <a:t>StockAbastos</a:t>
            </a:r>
            <a:r>
              <a:rPr lang="es-MX" noProof="0" dirty="0"/>
              <a:t> ©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7289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8A3A"/>
                </a:solidFill>
                <a:latin typeface="Calibri"/>
              </a:defRPr>
            </a:pPr>
            <a:r>
              <a:rPr lang="es-MX" noProof="0" dirty="0"/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Arquitectura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Construido con tecnologías modernas, escalables y 100% código abierto.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54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⚡ </a:t>
            </a:r>
            <a:r>
              <a:rPr lang="es-MX" noProof="0" dirty="0" err="1"/>
              <a:t>Backend</a:t>
            </a:r>
            <a:endParaRPr lang="es-MX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 err="1"/>
              <a:t>Fastify</a:t>
            </a:r>
            <a:r>
              <a:rPr lang="es-MX" noProof="0" dirty="0"/>
              <a:t> + Node.js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8A3A"/>
                </a:solidFill>
                <a:latin typeface="Calibri"/>
              </a:defRPr>
            </a:pPr>
            <a:r>
              <a:rPr lang="es-MX" noProof="0" dirty="0"/>
              <a:t>(API REST con JWT)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API REST con JWT</a:t>
            </a:r>
            <a:br>
              <a:rPr lang="es-MX" noProof="0" dirty="0"/>
            </a:br>
            <a:r>
              <a:rPr lang="es-MX" noProof="0" dirty="0"/>
              <a:t>PostgreSQL como base de datos</a:t>
            </a:r>
            <a:br>
              <a:rPr lang="es-MX" noProof="0" dirty="0"/>
            </a:br>
            <a:r>
              <a:rPr lang="es-MX" noProof="0" dirty="0"/>
              <a:t>Docker para despliegue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1168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663438" y="2148840"/>
            <a:ext cx="24485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🌐 </a:t>
            </a:r>
            <a:r>
              <a:rPr lang="es-MX" noProof="0" dirty="0" err="1"/>
              <a:t>Admin</a:t>
            </a:r>
            <a:r>
              <a:rPr lang="es-MX" noProof="0" dirty="0"/>
              <a:t>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 err="1"/>
              <a:t>React</a:t>
            </a:r>
            <a:r>
              <a:rPr lang="es-MX" noProof="0" dirty="0"/>
              <a:t> + </a:t>
            </a:r>
            <a:r>
              <a:rPr lang="es-MX" noProof="0" dirty="0" err="1"/>
              <a:t>TypeScript</a:t>
            </a:r>
            <a:endParaRPr lang="es-MX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663439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8A3A"/>
                </a:solidFill>
                <a:latin typeface="Calibri"/>
              </a:defRPr>
            </a:pPr>
            <a:r>
              <a:rPr lang="es-MX" noProof="0" dirty="0"/>
              <a:t>(Vite para desarrollo)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32004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Vite para desarrollo</a:t>
            </a:r>
            <a:br>
              <a:rPr lang="es-MX" noProof="0" dirty="0"/>
            </a:br>
            <a:r>
              <a:rPr lang="es-MX" noProof="0" dirty="0"/>
              <a:t>Diseño responsive </a:t>
            </a:r>
            <a:r>
              <a:rPr lang="es-MX" noProof="0" dirty="0" err="1"/>
              <a:t>mobile-first</a:t>
            </a:r>
            <a:br>
              <a:rPr lang="es-MX" noProof="0" dirty="0"/>
            </a:br>
            <a:r>
              <a:rPr lang="es-MX" noProof="0" dirty="0"/>
              <a:t>Acceso desde cualquier dispositivo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201168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8412478" y="2148840"/>
            <a:ext cx="28346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📱 App Móvil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Capacitor + Ionic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8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8A3A"/>
                </a:solidFill>
                <a:latin typeface="Calibri"/>
              </a:defRPr>
            </a:pPr>
            <a:r>
              <a:rPr lang="es-MX" noProof="0" dirty="0"/>
              <a:t>(Android nativo compilado)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8" y="32004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Android nativo compilado</a:t>
            </a:r>
            <a:br>
              <a:rPr lang="es-MX" noProof="0" dirty="0"/>
            </a:br>
            <a:r>
              <a:rPr lang="es-MX" noProof="0" dirty="0"/>
              <a:t>SQLite para operación offline</a:t>
            </a:r>
            <a:br>
              <a:rPr lang="es-MX" noProof="0" dirty="0"/>
            </a:br>
            <a:r>
              <a:rPr lang="es-MX" noProof="0" dirty="0"/>
              <a:t>Cámara QR y biometría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105156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777240" y="505663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/>
              <a:t>PostgreSQL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20" y="5029200"/>
            <a:ext cx="105156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1920240" y="505663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/>
              <a:t>Docker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5029200"/>
            <a:ext cx="105156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3063240" y="505663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 err="1"/>
              <a:t>Fastify</a:t>
            </a:r>
            <a:endParaRPr lang="es-MX" noProof="0" dirty="0"/>
          </a:p>
        </p:txBody>
      </p:sp>
      <p:sp>
        <p:nvSpPr>
          <p:cNvPr id="27" name="Rounded Rectangle 26"/>
          <p:cNvSpPr/>
          <p:nvPr/>
        </p:nvSpPr>
        <p:spPr>
          <a:xfrm>
            <a:off x="4160520" y="5029200"/>
            <a:ext cx="105156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4206240" y="505663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 err="1"/>
              <a:t>React</a:t>
            </a:r>
            <a:endParaRPr lang="es-MX" noProof="0" dirty="0"/>
          </a:p>
        </p:txBody>
      </p:sp>
      <p:sp>
        <p:nvSpPr>
          <p:cNvPr id="29" name="Rounded Rectangle 28"/>
          <p:cNvSpPr/>
          <p:nvPr/>
        </p:nvSpPr>
        <p:spPr>
          <a:xfrm>
            <a:off x="5303520" y="5029200"/>
            <a:ext cx="105156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349240" y="505663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 err="1"/>
              <a:t>TypeScript</a:t>
            </a:r>
            <a:endParaRPr lang="es-MX" noProof="0" dirty="0"/>
          </a:p>
        </p:txBody>
      </p:sp>
      <p:sp>
        <p:nvSpPr>
          <p:cNvPr id="31" name="Rounded Rectangle 30"/>
          <p:cNvSpPr/>
          <p:nvPr/>
        </p:nvSpPr>
        <p:spPr>
          <a:xfrm>
            <a:off x="6446520" y="5029200"/>
            <a:ext cx="105156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6492240" y="505663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/>
              <a:t>Capacitor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5029200"/>
            <a:ext cx="105156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7635240" y="505663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/>
              <a:t>Ionic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32520" y="5029200"/>
            <a:ext cx="105156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8778240" y="505663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/>
              <a:t>Zebra ZPL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5029200"/>
            <a:ext cx="105156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9921240" y="505663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/>
              <a:t>QR Codes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018520" y="5029200"/>
            <a:ext cx="105156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11064240" y="505663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5E28"/>
                </a:solidFill>
                <a:latin typeface="Calibri"/>
              </a:defRPr>
            </a:pPr>
            <a:r>
              <a:rPr lang="es-MX" noProof="0" dirty="0"/>
              <a:t>REST 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577840"/>
            <a:ext cx="10515600" cy="457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5E28"/>
                </a:solidFill>
                <a:latin typeface="Calibri"/>
              </a:defRPr>
            </a:pPr>
            <a:r>
              <a:rPr lang="es-MX" noProof="0" dirty="0"/>
              <a:t>✅  Despliegue </a:t>
            </a:r>
            <a:r>
              <a:rPr lang="es-MX" noProof="0" dirty="0" err="1"/>
              <a:t>on</a:t>
            </a:r>
            <a:r>
              <a:rPr lang="es-MX" noProof="0" dirty="0"/>
              <a:t>-premise o en nube  ·  Sin dependencia de internet para operación diaria  ·  Respaldo automático en PostgreSQL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7289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8A3A"/>
                </a:solidFill>
                <a:latin typeface="Calibri"/>
              </a:defRPr>
            </a:pPr>
            <a:r>
              <a:rPr lang="es-MX" noProof="0" dirty="0"/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Beneficios para tu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Resultados tangibles desde el primer día de operación.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4747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⏱️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Reduce pérdidas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Controla mermas, lotes próximos a vencer y stock bajo para minimizar pérdidas.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011680"/>
            <a:ext cx="34747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29768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Decisiones informadas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Reportes de ventas, productos más vendidos y rentabilidad en tiempo real.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011680"/>
            <a:ext cx="34747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795528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Operación móvil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Vende y consulta inventario desde cualquier lugar con la app Android.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34747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Control de acceso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Roles y permisos granulares: cada usuario ve solo lo que necesita.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474720"/>
            <a:ext cx="34747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4297680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🏷️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931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Trazabilidad 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Códigos QR en cada lote para recepción, traspasos y ventas con escaneo.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474720"/>
            <a:ext cx="34747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7955280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931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Cumplimiento sanitario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Trazabilidad completa por lote con caducidades para auditorías.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 err="1"/>
              <a:t>StockAbastos</a:t>
            </a:r>
            <a:r>
              <a:rPr lang="es-MX" noProof="0" dirty="0"/>
              <a:t> ©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A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2004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5D6A7"/>
                </a:solidFill>
                <a:latin typeface="Calibri"/>
              </a:defRPr>
            </a:pPr>
            <a:r>
              <a:rPr lang="es-MX" noProof="0" dirty="0"/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822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Contáctanos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EBD2"/>
                </a:solidFill>
                <a:latin typeface="Calibri"/>
              </a:defRPr>
            </a:pPr>
            <a:r>
              <a:rPr lang="es-MX" noProof="0" dirty="0"/>
              <a:t>Solicita una demo gratuita y descubre cómo </a:t>
            </a:r>
            <a:r>
              <a:rPr lang="es-MX" noProof="0" dirty="0" err="1"/>
              <a:t>StockAbastos</a:t>
            </a:r>
            <a:r>
              <a:rPr lang="es-MX" noProof="0" dirty="0"/>
              <a:t> puede transformar tu operación.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8A3A"/>
                </a:solidFill>
                <a:latin typeface="Calibri"/>
              </a:defRPr>
            </a:pPr>
            <a:r>
              <a:rPr lang="es-MX" noProof="0" dirty="0"/>
              <a:t>📧 Correo electrónico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3756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A1A"/>
                </a:solidFill>
                <a:latin typeface="Calibri"/>
              </a:defRPr>
            </a:pPr>
            <a:r>
              <a:rPr lang="es-MX" dirty="0"/>
              <a:t>o</a:t>
            </a:r>
            <a:r>
              <a:rPr lang="es-MX" noProof="0" dirty="0"/>
              <a:t>ld.lodoman@gmail.com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9180" y="292608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500634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8A3A"/>
                </a:solidFill>
                <a:latin typeface="Calibri"/>
              </a:defRPr>
            </a:pPr>
            <a:r>
              <a:rPr lang="es-MX" noProof="0" dirty="0"/>
              <a:t>📞 Teléfono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6340" y="333756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+52 (412) 134 0765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92608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932688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8A3A"/>
                </a:solidFill>
                <a:latin typeface="Calibri"/>
              </a:defRPr>
            </a:pPr>
            <a:r>
              <a:rPr lang="es-MX" noProof="0" dirty="0"/>
              <a:t>📍 Ubicación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33756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Juventino Rosas, GTO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389120"/>
            <a:ext cx="9418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8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1645920" y="457200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A1A"/>
                </a:solidFill>
                <a:latin typeface="Calibri"/>
              </a:defRPr>
            </a:pPr>
            <a:r>
              <a:rPr lang="es-MX" noProof="0" dirty="0"/>
              <a:t>¿Listo para digitalizar tu negocio?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3776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Agenda una demostración sin compromiso. Te mostraremos cómo </a:t>
            </a:r>
            <a:r>
              <a:rPr lang="es-MX" noProof="0" dirty="0" err="1"/>
              <a:t>StockAbastos</a:t>
            </a:r>
            <a:r>
              <a:rPr lang="es-MX" noProof="0" dirty="0"/>
              <a:t> puede ayudarte a reducir pérdidas, aumentar ventas y tener control total de tu inventario en tiempo real.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 err="1"/>
              <a:t>StockAbastos</a:t>
            </a:r>
            <a:r>
              <a:rPr lang="es-MX" noProof="0" dirty="0"/>
              <a:t> © 2026 · Todos los derechos reservados · </a:t>
            </a:r>
            <a:r>
              <a:rPr lang="es-MX" dirty="0"/>
              <a:t>old.lodoman@gmail.com</a:t>
            </a:r>
          </a:p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endParaRPr lang="es-MX" noProof="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7D69802-89E8-4C1E-3E04-E8441B45F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17" y="276724"/>
            <a:ext cx="2254366" cy="17780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860</Words>
  <Application>Microsoft Office PowerPoint</Application>
  <PresentationFormat>Panorámica</PresentationFormat>
  <Paragraphs>138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Lopez, Oscar (MEX, EX, IT)</cp:lastModifiedBy>
  <cp:revision>2</cp:revision>
  <dcterms:created xsi:type="dcterms:W3CDTF">2013-01-27T09:14:16Z</dcterms:created>
  <dcterms:modified xsi:type="dcterms:W3CDTF">2026-06-24T20:34:29Z</dcterms:modified>
  <cp:category/>
</cp:coreProperties>
</file>